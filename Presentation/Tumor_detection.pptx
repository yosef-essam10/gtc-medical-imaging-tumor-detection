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1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9A9-FC56-425C-80DA-2C09947BF78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AC1EA-FAB9-40A3-9DA0-8451B555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66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9A9-FC56-425C-80DA-2C09947BF78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AC1EA-FAB9-40A3-9DA0-8451B555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4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9A9-FC56-425C-80DA-2C09947BF78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AC1EA-FAB9-40A3-9DA0-8451B555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6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9A9-FC56-425C-80DA-2C09947BF78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AC1EA-FAB9-40A3-9DA0-8451B555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8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9A9-FC56-425C-80DA-2C09947BF78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AC1EA-FAB9-40A3-9DA0-8451B555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4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9A9-FC56-425C-80DA-2C09947BF78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AC1EA-FAB9-40A3-9DA0-8451B555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1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9A9-FC56-425C-80DA-2C09947BF78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AC1EA-FAB9-40A3-9DA0-8451B555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9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9A9-FC56-425C-80DA-2C09947BF78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AC1EA-FAB9-40A3-9DA0-8451B555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95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9A9-FC56-425C-80DA-2C09947BF78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AC1EA-FAB9-40A3-9DA0-8451B555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5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9A9-FC56-425C-80DA-2C09947BF78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AC1EA-FAB9-40A3-9DA0-8451B555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6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9A9-FC56-425C-80DA-2C09947BF78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AC1EA-FAB9-40A3-9DA0-8451B555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02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149A9-FC56-425C-80DA-2C09947BF78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AC1EA-FAB9-40A3-9DA0-8451B555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4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422783" y="1996225"/>
            <a:ext cx="3438659" cy="13394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bg1">
                    <a:lumMod val="75000"/>
                  </a:schemeClr>
                </a:solidFill>
              </a:rPr>
              <a:t>Brain </a:t>
            </a:r>
            <a:r>
              <a:rPr lang="en-GB" sz="2800" dirty="0" err="1">
                <a:solidFill>
                  <a:schemeClr val="bg1">
                    <a:lumMod val="75000"/>
                  </a:schemeClr>
                </a:solidFill>
              </a:rPr>
              <a:t>Tumor</a:t>
            </a:r>
            <a:r>
              <a:rPr lang="en-GB" sz="2800" dirty="0">
                <a:solidFill>
                  <a:schemeClr val="bg1">
                    <a:lumMod val="75000"/>
                  </a:schemeClr>
                </a:solidFill>
              </a:rPr>
              <a:t> Detection</a:t>
            </a:r>
            <a:endParaRPr lang="en-US" sz="2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535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68284" y="98474"/>
            <a:ext cx="5697415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schemeClr val="tx1"/>
                </a:solidFill>
              </a:rPr>
              <a:t>Team members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0677" y="1125416"/>
            <a:ext cx="3840480" cy="559894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794882"/>
              </p:ext>
            </p:extLst>
          </p:nvPr>
        </p:nvGraphicFramePr>
        <p:xfrm>
          <a:off x="140677" y="1125416"/>
          <a:ext cx="3840479" cy="55989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40479"/>
              </a:tblGrid>
              <a:tr h="9331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 smtClean="0"/>
                        <a:t>Name</a:t>
                      </a:r>
                      <a:endParaRPr lang="en-US" sz="2800" dirty="0"/>
                    </a:p>
                  </a:txBody>
                  <a:tcPr/>
                </a:tc>
              </a:tr>
              <a:tr h="93315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/>
                        <a:t>Youssef </a:t>
                      </a:r>
                      <a:r>
                        <a:rPr lang="en-US" dirty="0" err="1" smtClean="0"/>
                        <a:t>esam</a:t>
                      </a:r>
                      <a:r>
                        <a:rPr lang="en-US" dirty="0" smtClean="0"/>
                        <a:t> Mohamed </a:t>
                      </a:r>
                      <a:r>
                        <a:rPr lang="en-US" dirty="0" err="1" smtClean="0"/>
                        <a:t>gomaa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awad</a:t>
                      </a:r>
                      <a:endParaRPr lang="en-US" dirty="0"/>
                    </a:p>
                  </a:txBody>
                  <a:tcPr/>
                </a:tc>
              </a:tr>
              <a:tr h="93315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Ahmed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Alaa</a:t>
                      </a:r>
                      <a:endParaRPr lang="en-US" dirty="0"/>
                    </a:p>
                  </a:txBody>
                  <a:tcPr/>
                </a:tc>
              </a:tr>
              <a:tr h="93315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/>
                      </a:r>
                      <a:br>
                        <a:rPr lang="en-US" dirty="0" smtClean="0"/>
                      </a:b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Omar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yassen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ahmed</a:t>
                      </a:r>
                      <a:endParaRPr lang="en-US" dirty="0"/>
                    </a:p>
                  </a:txBody>
                  <a:tcPr/>
                </a:tc>
              </a:tr>
              <a:tr h="93315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Maxim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Mamdouh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Salib</a:t>
                      </a:r>
                      <a:endParaRPr lang="en-US" dirty="0"/>
                    </a:p>
                  </a:txBody>
                  <a:tcPr/>
                </a:tc>
              </a:tr>
              <a:tr h="93315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Abanoub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Refaat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Ibrahim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981156" y="1125416"/>
            <a:ext cx="8210844" cy="5598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Youssef </a:t>
            </a:r>
            <a:r>
              <a:rPr lang="en-US" altLang="en-US" sz="2800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Esam</a:t>
            </a:r>
            <a:r>
              <a:rPr lang="en-US" altLang="en-US" sz="2800" dirty="0" smtClean="0">
                <a:solidFill>
                  <a:schemeClr val="tx1"/>
                </a:solidFill>
                <a:latin typeface="Arial" panose="020B0604020202020204" pitchFamily="34" charset="0"/>
              </a:rPr>
              <a:t> – Contributed across all stages: preprocessing, EDA, model building, evaluation, and deployment.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Ahmed </a:t>
            </a:r>
            <a:r>
              <a:rPr lang="en-US" altLang="en-US" sz="2800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Alaa</a:t>
            </a:r>
            <a:r>
              <a:rPr lang="en-US" altLang="en-US" sz="2800" dirty="0" smtClean="0">
                <a:solidFill>
                  <a:schemeClr val="tx1"/>
                </a:solidFill>
                <a:latin typeface="Arial" panose="020B0604020202020204" pitchFamily="34" charset="0"/>
              </a:rPr>
              <a:t> – Contributed across all stages: preprocessing, EDA, model building, evaluation, and deployment.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Omar</a:t>
            </a:r>
            <a:r>
              <a:rPr lang="en-US" altLang="en-US" sz="2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Yassen</a:t>
            </a:r>
            <a:r>
              <a:rPr lang="en-US" altLang="en-US" sz="2800" dirty="0" smtClean="0">
                <a:solidFill>
                  <a:schemeClr val="tx1"/>
                </a:solidFill>
                <a:latin typeface="Arial" panose="020B0604020202020204" pitchFamily="34" charset="0"/>
              </a:rPr>
              <a:t>– Supported data preprocessing and exploratory data analysis.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Abanoub</a:t>
            </a:r>
            <a:r>
              <a:rPr lang="en-US" altLang="en-US" sz="2800" dirty="0" smtClean="0">
                <a:solidFill>
                  <a:schemeClr val="tx1"/>
                </a:solidFill>
                <a:latin typeface="Arial" panose="020B0604020202020204" pitchFamily="34" charset="0"/>
              </a:rPr>
              <a:t> – Assisted in model training and evaluation.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Maxim</a:t>
            </a:r>
            <a:r>
              <a:rPr lang="en-US" altLang="en-US" sz="2800" dirty="0" smtClean="0">
                <a:solidFill>
                  <a:schemeClr val="tx1"/>
                </a:solidFill>
                <a:latin typeface="Arial" panose="020B0604020202020204" pitchFamily="34" charset="0"/>
              </a:rPr>
              <a:t> – Assisted in deployment and testing of the </a:t>
            </a:r>
            <a:r>
              <a:rPr lang="en-US" altLang="en-US" sz="28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Streamlit</a:t>
            </a:r>
            <a:r>
              <a:rPr lang="en-US" altLang="en-US" sz="2800" dirty="0" smtClean="0">
                <a:solidFill>
                  <a:schemeClr val="tx1"/>
                </a:solidFill>
                <a:latin typeface="Arial" panose="020B0604020202020204" pitchFamily="34" charset="0"/>
              </a:rPr>
              <a:t> application.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3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Brain </a:t>
            </a:r>
            <a:r>
              <a:rPr lang="en-GB" dirty="0" err="1" smtClean="0"/>
              <a:t>Tumor</a:t>
            </a:r>
            <a:r>
              <a:rPr lang="en-GB" dirty="0" smtClean="0"/>
              <a:t> Detection using Deep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Final Project – GTC Scholarship</a:t>
            </a:r>
          </a:p>
          <a:p>
            <a:r>
              <a:rPr lang="en-GB" dirty="0" smtClean="0"/>
              <a:t>This project applies AI to the medical field, aiming to classify brain </a:t>
            </a:r>
            <a:r>
              <a:rPr lang="en-GB" dirty="0" err="1" smtClean="0"/>
              <a:t>tumors</a:t>
            </a:r>
            <a:r>
              <a:rPr lang="en-GB" dirty="0" smtClean="0"/>
              <a:t> from MRI scans using deep learning.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69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0166"/>
            <a:ext cx="9144000" cy="1423889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58794"/>
            <a:ext cx="9144000" cy="3583745"/>
          </a:xfrm>
        </p:spPr>
        <p:txBody>
          <a:bodyPr>
            <a:normAutofit/>
          </a:bodyPr>
          <a:lstStyle/>
          <a:p>
            <a:r>
              <a:rPr lang="en-GB" dirty="0" smtClean="0"/>
              <a:t>The human brain is highly complex, and detecting </a:t>
            </a:r>
            <a:r>
              <a:rPr lang="en-GB" dirty="0" err="1" smtClean="0"/>
              <a:t>tumors</a:t>
            </a:r>
            <a:r>
              <a:rPr lang="en-GB" dirty="0" smtClean="0"/>
              <a:t> early is crucial for treatment.</a:t>
            </a:r>
          </a:p>
          <a:p>
            <a:r>
              <a:rPr lang="en-GB" dirty="0" smtClean="0"/>
              <a:t>Manual diagnosis from MRI scans can be time-consuming and error-prone.</a:t>
            </a:r>
          </a:p>
          <a:p>
            <a:r>
              <a:rPr lang="en-GB" dirty="0" smtClean="0"/>
              <a:t>Goal: Build an AI model that can classify MRI scans into different </a:t>
            </a:r>
            <a:r>
              <a:rPr lang="en-GB" dirty="0" err="1" smtClean="0"/>
              <a:t>tumor</a:t>
            </a:r>
            <a:r>
              <a:rPr lang="en-GB" dirty="0" smtClean="0"/>
              <a:t> types automatically.</a:t>
            </a:r>
          </a:p>
          <a:p>
            <a:r>
              <a:rPr lang="en-GB" dirty="0" smtClean="0"/>
              <a:t>This project bridges healthcare and technology, making </a:t>
            </a:r>
            <a:r>
              <a:rPr lang="en-GB" dirty="0" err="1" smtClean="0"/>
              <a:t>tumor</a:t>
            </a:r>
            <a:r>
              <a:rPr lang="en-GB" dirty="0" smtClean="0"/>
              <a:t> detection faster and more accurate.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302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3323" y="222030"/>
            <a:ext cx="9144000" cy="76270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Dataset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083212"/>
            <a:ext cx="9144000" cy="577478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GB" dirty="0" smtClean="0"/>
              <a:t>The dataset used contained MRI scans categorized into 4 classes:</a:t>
            </a:r>
          </a:p>
          <a:p>
            <a:pPr algn="l"/>
            <a:endParaRPr lang="en-GB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smtClean="0"/>
              <a:t>Glioma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smtClean="0"/>
              <a:t>Meningioma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smtClean="0"/>
              <a:t>Pituitary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smtClean="0"/>
              <a:t>No </a:t>
            </a:r>
            <a:r>
              <a:rPr lang="en-GB" dirty="0" err="1" smtClean="0"/>
              <a:t>Tumor</a:t>
            </a:r>
            <a:endParaRPr lang="en-GB" dirty="0" smtClean="0"/>
          </a:p>
          <a:p>
            <a:pPr algn="l"/>
            <a:r>
              <a:rPr lang="en-GB" dirty="0" smtClean="0"/>
              <a:t>Images were resized to a fixed input shape for consistency.</a:t>
            </a:r>
          </a:p>
          <a:p>
            <a:pPr algn="l"/>
            <a:endParaRPr lang="en-GB" dirty="0" smtClean="0"/>
          </a:p>
          <a:p>
            <a:pPr algn="l"/>
            <a:r>
              <a:rPr lang="en-GB" dirty="0" smtClean="0"/>
              <a:t>Normalization was applied to scale pixel values between 0 and 1.</a:t>
            </a:r>
          </a:p>
          <a:p>
            <a:pPr algn="l"/>
            <a:endParaRPr lang="en-GB" dirty="0" smtClean="0"/>
          </a:p>
          <a:p>
            <a:pPr algn="l"/>
            <a:r>
              <a:rPr lang="en-GB" dirty="0" smtClean="0"/>
              <a:t>Data augmentation (rotation, flipping, shifting) was added to prevent overfitting.</a:t>
            </a:r>
          </a:p>
          <a:p>
            <a:pPr algn="l"/>
            <a:endParaRPr lang="en-GB" dirty="0" smtClean="0"/>
          </a:p>
          <a:p>
            <a:pPr algn="l"/>
            <a:r>
              <a:rPr lang="en-GB" dirty="0" smtClean="0"/>
              <a:t>📊 This prepared the data for robust training and testing.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69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7287"/>
            <a:ext cx="9144000" cy="87219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Libraries &amp; Tools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37957"/>
            <a:ext cx="9144000" cy="5387926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TensorFlow</a:t>
            </a:r>
            <a:r>
              <a:rPr lang="en-US" dirty="0" smtClean="0"/>
              <a:t>/</a:t>
            </a:r>
            <a:r>
              <a:rPr lang="en-US" dirty="0" err="1" smtClean="0"/>
              <a:t>Keras</a:t>
            </a:r>
            <a:r>
              <a:rPr lang="en-US" dirty="0" smtClean="0"/>
              <a:t> → building and training the CNN model</a:t>
            </a:r>
          </a:p>
          <a:p>
            <a:endParaRPr lang="en-US" dirty="0" smtClean="0"/>
          </a:p>
          <a:p>
            <a:r>
              <a:rPr lang="en-US" dirty="0" err="1" smtClean="0"/>
              <a:t>NumPy</a:t>
            </a:r>
            <a:r>
              <a:rPr lang="en-US" dirty="0" smtClean="0"/>
              <a:t> &amp; Pandas → data handling and preprocessing</a:t>
            </a:r>
          </a:p>
          <a:p>
            <a:endParaRPr lang="en-US" dirty="0" smtClean="0"/>
          </a:p>
          <a:p>
            <a:r>
              <a:rPr lang="en-US" dirty="0" err="1" smtClean="0"/>
              <a:t>Matplotlib</a:t>
            </a:r>
            <a:r>
              <a:rPr lang="en-US" dirty="0" smtClean="0"/>
              <a:t> → data visualization and performance plots</a:t>
            </a:r>
          </a:p>
          <a:p>
            <a:endParaRPr lang="en-US" dirty="0" smtClean="0"/>
          </a:p>
          <a:p>
            <a:r>
              <a:rPr lang="en-US" dirty="0" smtClean="0"/>
              <a:t>PIL → image processing</a:t>
            </a:r>
          </a:p>
          <a:p>
            <a:endParaRPr lang="en-US" dirty="0" smtClean="0"/>
          </a:p>
          <a:p>
            <a:r>
              <a:rPr lang="en-US" dirty="0" err="1" smtClean="0"/>
              <a:t>Streamlit</a:t>
            </a:r>
            <a:r>
              <a:rPr lang="en-US" dirty="0" smtClean="0"/>
              <a:t> → building an interactive web app</a:t>
            </a:r>
          </a:p>
          <a:p>
            <a:endParaRPr lang="en-US" dirty="0" smtClean="0"/>
          </a:p>
          <a:p>
            <a:r>
              <a:rPr lang="en-US" dirty="0" err="1" smtClean="0"/>
              <a:t>ngrok</a:t>
            </a:r>
            <a:r>
              <a:rPr lang="en-US" dirty="0" smtClean="0"/>
              <a:t> → hosting the app online for global access</a:t>
            </a:r>
          </a:p>
          <a:p>
            <a:endParaRPr lang="en-US" dirty="0" smtClean="0"/>
          </a:p>
          <a:p>
            <a:r>
              <a:rPr lang="en-US" dirty="0" smtClean="0"/>
              <a:t>(Here, you can use logos of the libraries for visual appeal)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689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9489"/>
            <a:ext cx="9144000" cy="8330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Preprocessing &amp; EDA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42535"/>
            <a:ext cx="9144000" cy="579589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GB" dirty="0" err="1" smtClean="0"/>
              <a:t>Preprocessing</a:t>
            </a:r>
            <a:r>
              <a:rPr lang="en-GB" dirty="0" smtClean="0"/>
              <a:t> Steps:</a:t>
            </a:r>
          </a:p>
          <a:p>
            <a:pPr algn="l"/>
            <a:endParaRPr lang="en-GB" dirty="0" smtClean="0"/>
          </a:p>
          <a:p>
            <a:pPr algn="l"/>
            <a:r>
              <a:rPr lang="en-GB" dirty="0" smtClean="0"/>
              <a:t>Converted images to grayscale or RGB depending on input needs.</a:t>
            </a:r>
          </a:p>
          <a:p>
            <a:pPr algn="l"/>
            <a:endParaRPr lang="en-GB" dirty="0" smtClean="0"/>
          </a:p>
          <a:p>
            <a:pPr algn="l"/>
            <a:r>
              <a:rPr lang="en-GB" dirty="0" smtClean="0"/>
              <a:t>Resized all images to match the model’s expected dimensions.</a:t>
            </a:r>
          </a:p>
          <a:p>
            <a:pPr algn="l"/>
            <a:endParaRPr lang="en-GB" dirty="0" smtClean="0"/>
          </a:p>
          <a:p>
            <a:pPr algn="l"/>
            <a:r>
              <a:rPr lang="en-GB" dirty="0" smtClean="0"/>
              <a:t>Normalized pixel intensities to speed up training convergence.</a:t>
            </a:r>
          </a:p>
          <a:p>
            <a:pPr algn="l"/>
            <a:endParaRPr lang="en-GB" dirty="0" smtClean="0"/>
          </a:p>
          <a:p>
            <a:pPr algn="l"/>
            <a:r>
              <a:rPr lang="en-GB" dirty="0" smtClean="0"/>
              <a:t>Applied augmentation techniques like rotation and flipping to increase dataset diversity.</a:t>
            </a:r>
          </a:p>
          <a:p>
            <a:pPr algn="l"/>
            <a:endParaRPr lang="en-GB" dirty="0" smtClean="0"/>
          </a:p>
          <a:p>
            <a:pPr algn="l"/>
            <a:r>
              <a:rPr lang="en-GB" dirty="0" smtClean="0"/>
              <a:t>Exploratory Data Analysis (EDA):</a:t>
            </a:r>
          </a:p>
          <a:p>
            <a:pPr algn="l"/>
            <a:endParaRPr lang="en-GB" dirty="0" smtClean="0"/>
          </a:p>
          <a:p>
            <a:pPr algn="l"/>
            <a:r>
              <a:rPr lang="en-GB" dirty="0" smtClean="0"/>
              <a:t>Visualized random MRI scans to confirm </a:t>
            </a:r>
            <a:r>
              <a:rPr lang="en-GB" dirty="0" err="1" smtClean="0"/>
              <a:t>labeling</a:t>
            </a:r>
            <a:r>
              <a:rPr lang="en-GB" dirty="0" smtClean="0"/>
              <a:t> quality.</a:t>
            </a:r>
          </a:p>
          <a:p>
            <a:pPr algn="l"/>
            <a:endParaRPr lang="en-GB" dirty="0" smtClean="0"/>
          </a:p>
          <a:p>
            <a:pPr algn="l"/>
            <a:r>
              <a:rPr lang="en-GB" dirty="0" smtClean="0"/>
              <a:t>Checked dataset balance across the 4 classes.</a:t>
            </a:r>
          </a:p>
          <a:p>
            <a:pPr algn="l"/>
            <a:endParaRPr lang="en-GB" dirty="0" smtClean="0"/>
          </a:p>
          <a:p>
            <a:pPr algn="l"/>
            <a:r>
              <a:rPr lang="en-GB" dirty="0" smtClean="0"/>
              <a:t>Identified potential noise or unclear scans.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23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Preprocessing &amp; EDA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98597"/>
            <a:ext cx="5181600" cy="2005393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78859"/>
            <a:ext cx="5181600" cy="3444870"/>
          </a:xfrm>
        </p:spPr>
      </p:pic>
    </p:spTree>
    <p:extLst>
      <p:ext uri="{BB962C8B-B14F-4D97-AF65-F5344CB8AC3E}">
        <p14:creationId xmlns:p14="http://schemas.microsoft.com/office/powerpoint/2010/main" val="2191653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1897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Model Architecture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42535"/>
            <a:ext cx="9144000" cy="578182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Built a Convolutional Neural Network (CNN) using the </a:t>
            </a:r>
            <a:r>
              <a:rPr lang="en-US" dirty="0" err="1" smtClean="0"/>
              <a:t>Keras</a:t>
            </a:r>
            <a:r>
              <a:rPr lang="en-US" dirty="0" smtClean="0"/>
              <a:t> Sequential API.</a:t>
            </a:r>
          </a:p>
          <a:p>
            <a:endParaRPr lang="en-US" dirty="0" smtClean="0"/>
          </a:p>
          <a:p>
            <a:r>
              <a:rPr lang="en-US" dirty="0" smtClean="0"/>
              <a:t>Layers included:</a:t>
            </a:r>
          </a:p>
          <a:p>
            <a:endParaRPr lang="en-US" dirty="0" smtClean="0"/>
          </a:p>
          <a:p>
            <a:r>
              <a:rPr lang="en-US" dirty="0" smtClean="0"/>
              <a:t>Convolution + </a:t>
            </a:r>
            <a:r>
              <a:rPr lang="en-US" dirty="0" err="1" smtClean="0"/>
              <a:t>ReLU</a:t>
            </a:r>
            <a:r>
              <a:rPr lang="en-US" dirty="0" smtClean="0"/>
              <a:t> → feature extraction</a:t>
            </a:r>
          </a:p>
          <a:p>
            <a:endParaRPr lang="en-US" dirty="0" smtClean="0"/>
          </a:p>
          <a:p>
            <a:r>
              <a:rPr lang="en-US" dirty="0" err="1" smtClean="0"/>
              <a:t>MaxPooling</a:t>
            </a:r>
            <a:r>
              <a:rPr lang="en-US" dirty="0" smtClean="0"/>
              <a:t> → dimensionality reduction</a:t>
            </a:r>
          </a:p>
          <a:p>
            <a:endParaRPr lang="en-US" dirty="0" smtClean="0"/>
          </a:p>
          <a:p>
            <a:r>
              <a:rPr lang="en-US" dirty="0" smtClean="0"/>
              <a:t>Dropout → prevent overfitting</a:t>
            </a:r>
          </a:p>
          <a:p>
            <a:endParaRPr lang="en-US" dirty="0" smtClean="0"/>
          </a:p>
          <a:p>
            <a:r>
              <a:rPr lang="en-US" dirty="0" smtClean="0"/>
              <a:t>Dense layers → final decision-making</a:t>
            </a:r>
          </a:p>
          <a:p>
            <a:endParaRPr lang="en-US" dirty="0" smtClean="0"/>
          </a:p>
          <a:p>
            <a:r>
              <a:rPr lang="en-US" dirty="0" smtClean="0"/>
              <a:t>Output Layer: </a:t>
            </a:r>
            <a:r>
              <a:rPr lang="en-US" dirty="0" err="1" smtClean="0"/>
              <a:t>Softmax</a:t>
            </a:r>
            <a:r>
              <a:rPr lang="en-US" dirty="0" smtClean="0"/>
              <a:t> activation for multi-class classification.</a:t>
            </a:r>
          </a:p>
          <a:p>
            <a:endParaRPr lang="en-US" dirty="0" smtClean="0"/>
          </a:p>
          <a:p>
            <a:r>
              <a:rPr lang="en-US" dirty="0" smtClean="0"/>
              <a:t>The model was designed to balance complexity and efficiency for accurate predictions.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810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488" y="457200"/>
            <a:ext cx="3932237" cy="530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Training &amp; Evaluation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125" y="987425"/>
            <a:ext cx="4848013" cy="524594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3488" y="1223493"/>
            <a:ext cx="5705340" cy="5203065"/>
          </a:xfrm>
        </p:spPr>
        <p:txBody>
          <a:bodyPr>
            <a:normAutofit/>
          </a:bodyPr>
          <a:lstStyle/>
          <a:p>
            <a:r>
              <a:rPr lang="en-GB" dirty="0"/>
              <a:t>Training:</a:t>
            </a:r>
          </a:p>
          <a:p>
            <a:endParaRPr lang="en-GB" dirty="0"/>
          </a:p>
          <a:p>
            <a:r>
              <a:rPr lang="en-GB" dirty="0"/>
              <a:t>Model trained over multiple epochs with tuned </a:t>
            </a:r>
            <a:r>
              <a:rPr lang="en-GB" dirty="0" err="1"/>
              <a:t>hyperparameters</a:t>
            </a:r>
            <a:r>
              <a:rPr lang="en-GB" dirty="0"/>
              <a:t> (batch size, learning rate).</a:t>
            </a:r>
          </a:p>
          <a:p>
            <a:endParaRPr lang="en-GB" dirty="0"/>
          </a:p>
          <a:p>
            <a:r>
              <a:rPr lang="en-GB" dirty="0"/>
              <a:t>Used categorical cross-entropy loss and Adam optimizer.</a:t>
            </a:r>
          </a:p>
          <a:p>
            <a:endParaRPr lang="en-GB" dirty="0"/>
          </a:p>
          <a:p>
            <a:r>
              <a:rPr lang="en-GB" dirty="0"/>
              <a:t>Evaluation:</a:t>
            </a:r>
          </a:p>
          <a:p>
            <a:endParaRPr lang="en-GB" dirty="0"/>
          </a:p>
          <a:p>
            <a:r>
              <a:rPr lang="en-GB" dirty="0"/>
              <a:t>Plotted training vs validation accuracy/loss to monitor performance.</a:t>
            </a:r>
          </a:p>
          <a:p>
            <a:endParaRPr lang="en-GB" dirty="0"/>
          </a:p>
          <a:p>
            <a:r>
              <a:rPr lang="en-GB" dirty="0"/>
              <a:t>Confusion matrix used to confirm correct classification across all </a:t>
            </a:r>
            <a:r>
              <a:rPr lang="en-GB" dirty="0" err="1"/>
              <a:t>tumor</a:t>
            </a:r>
            <a:r>
              <a:rPr lang="en-GB" dirty="0"/>
              <a:t> classes.</a:t>
            </a:r>
          </a:p>
          <a:p>
            <a:endParaRPr lang="en-GB" dirty="0"/>
          </a:p>
          <a:p>
            <a:r>
              <a:rPr lang="en-GB" dirty="0"/>
              <a:t>Results showed strong accuracy and generalization ability.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609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&amp; Evaluation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07447"/>
            <a:ext cx="5181600" cy="3387694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92976"/>
            <a:ext cx="5181600" cy="3616636"/>
          </a:xfrm>
        </p:spPr>
      </p:pic>
    </p:spTree>
    <p:extLst>
      <p:ext uri="{BB962C8B-B14F-4D97-AF65-F5344CB8AC3E}">
        <p14:creationId xmlns:p14="http://schemas.microsoft.com/office/powerpoint/2010/main" val="206558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865553" cy="869324"/>
          </a:xfrm>
        </p:spPr>
        <p:txBody>
          <a:bodyPr/>
          <a:lstStyle/>
          <a:p>
            <a:r>
              <a:rPr lang="en-US" dirty="0"/>
              <a:t>Deployment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008" y="1430338"/>
            <a:ext cx="5480134" cy="5227637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29555"/>
            <a:ext cx="4865553" cy="5228822"/>
          </a:xfrm>
        </p:spPr>
        <p:txBody>
          <a:bodyPr/>
          <a:lstStyle/>
          <a:p>
            <a:endParaRPr lang="en-GB" dirty="0"/>
          </a:p>
          <a:p>
            <a:r>
              <a:rPr lang="en-GB" dirty="0"/>
              <a:t>To make the solution practical, the model was deployed as a </a:t>
            </a:r>
            <a:r>
              <a:rPr lang="en-GB" dirty="0" err="1"/>
              <a:t>Streamlit</a:t>
            </a:r>
            <a:r>
              <a:rPr lang="en-GB" dirty="0"/>
              <a:t> web app.</a:t>
            </a:r>
          </a:p>
          <a:p>
            <a:endParaRPr lang="en-GB" dirty="0"/>
          </a:p>
          <a:p>
            <a:r>
              <a:rPr lang="en-GB" dirty="0"/>
              <a:t>Features of the app:</a:t>
            </a:r>
          </a:p>
          <a:p>
            <a:endParaRPr lang="en-GB" dirty="0"/>
          </a:p>
          <a:p>
            <a:r>
              <a:rPr lang="en-GB" dirty="0"/>
              <a:t>User can upload an MRI scan image.</a:t>
            </a:r>
          </a:p>
          <a:p>
            <a:endParaRPr lang="en-GB" dirty="0"/>
          </a:p>
          <a:p>
            <a:r>
              <a:rPr lang="en-GB" dirty="0"/>
              <a:t>The image is automatically </a:t>
            </a:r>
            <a:r>
              <a:rPr lang="en-GB" dirty="0" err="1"/>
              <a:t>preprocessed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The trained model classifies the </a:t>
            </a:r>
            <a:r>
              <a:rPr lang="en-GB" dirty="0" err="1"/>
              <a:t>tumor</a:t>
            </a:r>
            <a:r>
              <a:rPr lang="en-GB" dirty="0"/>
              <a:t> type instantly.</a:t>
            </a:r>
          </a:p>
          <a:p>
            <a:endParaRPr lang="en-GB" dirty="0"/>
          </a:p>
          <a:p>
            <a:r>
              <a:rPr lang="en-GB" dirty="0"/>
              <a:t>Deployment made live using </a:t>
            </a:r>
            <a:r>
              <a:rPr lang="en-GB" dirty="0" err="1"/>
              <a:t>ngrok</a:t>
            </a:r>
            <a:r>
              <a:rPr lang="en-GB" dirty="0"/>
              <a:t>, allowing access from any device worldwide.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326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21972"/>
            <a:ext cx="5535254" cy="965915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Deployment </a:t>
            </a:r>
            <a:r>
              <a:rPr lang="en-US" sz="4000" dirty="0" err="1" smtClean="0"/>
              <a:t>Examble</a:t>
            </a:r>
            <a:endParaRPr lang="en-US" sz="40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589" y="1377950"/>
            <a:ext cx="5228822" cy="511333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378039"/>
            <a:ext cx="5535254" cy="5112913"/>
          </a:xfrm>
        </p:spPr>
        <p:txBody>
          <a:bodyPr>
            <a:normAutofit/>
          </a:bodyPr>
          <a:lstStyle/>
          <a:p>
            <a:r>
              <a:rPr lang="en-GB" sz="2400" dirty="0"/>
              <a:t>When an MRI scan is uploaded, the system predicts:</a:t>
            </a:r>
          </a:p>
          <a:p>
            <a:r>
              <a:rPr lang="en-GB" sz="2400" dirty="0"/>
              <a:t>“Predicted: </a:t>
            </a:r>
            <a:r>
              <a:rPr lang="en-GB" sz="2400" dirty="0" smtClean="0"/>
              <a:t>Name of </a:t>
            </a:r>
            <a:r>
              <a:rPr lang="en-GB" sz="2400" dirty="0" err="1" smtClean="0"/>
              <a:t>tumor</a:t>
            </a:r>
            <a:r>
              <a:rPr lang="en-GB" sz="2400" dirty="0" smtClean="0"/>
              <a:t>(the percentage)”</a:t>
            </a:r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The app interface clearly displays the result to the user.</a:t>
            </a:r>
          </a:p>
          <a:p>
            <a:endParaRPr lang="en-GB" sz="2400" dirty="0"/>
          </a:p>
          <a:p>
            <a:r>
              <a:rPr lang="en-GB" sz="2400" dirty="0"/>
              <a:t>This demonstrates how AI can provide fast, accurate, and user-friendly medical support tools.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30493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62511"/>
            <a:ext cx="9144000" cy="938257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429555"/>
            <a:ext cx="9144000" cy="521594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GB" dirty="0"/>
              <a:t>Successfully built a full pipeline: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Data </a:t>
            </a:r>
            <a:r>
              <a:rPr lang="en-GB" dirty="0" err="1"/>
              <a:t>preprocessing</a:t>
            </a:r>
            <a:r>
              <a:rPr lang="en-GB" dirty="0"/>
              <a:t> → Model training → Evaluation → Deployment</a:t>
            </a:r>
          </a:p>
          <a:p>
            <a:pPr algn="l"/>
            <a:endParaRPr lang="en-GB" dirty="0"/>
          </a:p>
          <a:p>
            <a:pPr algn="l"/>
            <a:r>
              <a:rPr lang="en-GB" dirty="0" smtClean="0"/>
              <a:t>Showed </a:t>
            </a:r>
            <a:r>
              <a:rPr lang="en-GB" dirty="0"/>
              <a:t>how deep learning can help in real-world healthcare problems</a:t>
            </a:r>
            <a:r>
              <a:rPr lang="en-GB" dirty="0" smtClean="0"/>
              <a:t>.</a:t>
            </a:r>
            <a:endParaRPr lang="en-GB" dirty="0"/>
          </a:p>
          <a:p>
            <a:pPr algn="l"/>
            <a:r>
              <a:rPr lang="en-GB" dirty="0"/>
              <a:t>Key takeaways: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Importance of clean </a:t>
            </a:r>
            <a:r>
              <a:rPr lang="en-GB" dirty="0" smtClean="0"/>
              <a:t>data</a:t>
            </a:r>
            <a:endParaRPr lang="en-GB" dirty="0"/>
          </a:p>
          <a:p>
            <a:pPr algn="l"/>
            <a:r>
              <a:rPr lang="en-GB" dirty="0"/>
              <a:t>Role of CNNs in image </a:t>
            </a:r>
            <a:r>
              <a:rPr lang="en-GB" dirty="0" smtClean="0"/>
              <a:t>classification</a:t>
            </a:r>
            <a:endParaRPr lang="en-GB" dirty="0"/>
          </a:p>
          <a:p>
            <a:pPr algn="l"/>
            <a:r>
              <a:rPr lang="en-GB" dirty="0"/>
              <a:t>Power of deployment tools like </a:t>
            </a:r>
            <a:r>
              <a:rPr lang="en-GB" dirty="0" err="1"/>
              <a:t>Streamlit</a:t>
            </a:r>
            <a:r>
              <a:rPr lang="en-GB" dirty="0"/>
              <a:t> &amp; </a:t>
            </a:r>
            <a:r>
              <a:rPr lang="en-GB" dirty="0" err="1"/>
              <a:t>ngrok</a:t>
            </a:r>
            <a:endParaRPr lang="en-GB" dirty="0"/>
          </a:p>
          <a:p>
            <a:pPr algn="l"/>
            <a:endParaRPr lang="en-GB" dirty="0"/>
          </a:p>
          <a:p>
            <a:pPr algn="l"/>
            <a:r>
              <a:rPr lang="en-GB" dirty="0"/>
              <a:t>Future improvements</a:t>
            </a:r>
            <a:r>
              <a:rPr lang="en-GB" dirty="0" smtClean="0"/>
              <a:t>:</a:t>
            </a:r>
            <a:endParaRPr lang="en-GB" dirty="0"/>
          </a:p>
          <a:p>
            <a:pPr algn="l"/>
            <a:r>
              <a:rPr lang="en-GB" dirty="0"/>
              <a:t>Use larger and more diverse </a:t>
            </a:r>
            <a:r>
              <a:rPr lang="en-GB" dirty="0" smtClean="0"/>
              <a:t>datasets</a:t>
            </a:r>
            <a:endParaRPr lang="en-GB" dirty="0"/>
          </a:p>
          <a:p>
            <a:pPr algn="l"/>
            <a:r>
              <a:rPr lang="en-GB" dirty="0"/>
              <a:t>Apply transfer learning with pre-trained models (e.g., VGG, </a:t>
            </a:r>
            <a:r>
              <a:rPr lang="en-GB" dirty="0" err="1"/>
              <a:t>ResNet</a:t>
            </a:r>
            <a:r>
              <a:rPr lang="en-GB" dirty="0" smtClean="0"/>
              <a:t>)</a:t>
            </a:r>
            <a:endParaRPr lang="en-GB" dirty="0"/>
          </a:p>
          <a:p>
            <a:pPr algn="l"/>
            <a:r>
              <a:rPr lang="en-GB" dirty="0"/>
              <a:t>Deploy on cloud for scalability (AWS/GCP).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216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0991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 big thank you to GTC for providing the opportunity, mentorship, and resources to complete this project.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>This scholarship helped me connect AI theory with real-world applications.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>Special thanks to mentors, peers, and the community for continuous support</a:t>
            </a:r>
            <a:r>
              <a:rPr lang="en-GB" dirty="0" smtClean="0"/>
              <a:t>.</a:t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> ❤️</a:t>
            </a:r>
            <a:r>
              <a:rPr lang="en-GB" dirty="0" smtClean="0"/>
              <a:t>Thanks❤️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92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716</Words>
  <Application>Microsoft Office PowerPoint</Application>
  <PresentationFormat>Widescreen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Brain Tumor Detection using Deep Learning</vt:lpstr>
      <vt:lpstr>Introduction</vt:lpstr>
      <vt:lpstr>Dataset</vt:lpstr>
      <vt:lpstr>Libraries &amp; Tools</vt:lpstr>
      <vt:lpstr>Preprocessing &amp; EDA</vt:lpstr>
      <vt:lpstr>Preprocessing &amp; EDA</vt:lpstr>
      <vt:lpstr>Model Architecture</vt:lpstr>
      <vt:lpstr>Training &amp; Evaluation</vt:lpstr>
      <vt:lpstr>Training &amp; Evaluation</vt:lpstr>
      <vt:lpstr>Deployment</vt:lpstr>
      <vt:lpstr>Deployment Examble</vt:lpstr>
      <vt:lpstr>Conclusion</vt:lpstr>
      <vt:lpstr>A big thank you to GTC for providing the opportunity, mentorship, and resources to complete this project.  This scholarship helped me connect AI theory with real-world applications.  Special thanks to mentors, peers, and the community for continuous support.   ❤️Thanks❤️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ELOott</dc:creator>
  <cp:lastModifiedBy>ELOott</cp:lastModifiedBy>
  <cp:revision>8</cp:revision>
  <dcterms:created xsi:type="dcterms:W3CDTF">2025-09-25T12:34:14Z</dcterms:created>
  <dcterms:modified xsi:type="dcterms:W3CDTF">2025-09-26T02:22:57Z</dcterms:modified>
</cp:coreProperties>
</file>